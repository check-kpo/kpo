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61" r:id="rId3"/>
    <p:sldId id="257" r:id="rId4"/>
    <p:sldId id="259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9" r:id="rId26"/>
    <p:sldId id="280" r:id="rId27"/>
    <p:sldId id="282" r:id="rId28"/>
    <p:sldId id="284" r:id="rId29"/>
    <p:sldId id="285" r:id="rId30"/>
    <p:sldId id="286" r:id="rId31"/>
    <p:sldId id="288" r:id="rId32"/>
    <p:sldId id="290" r:id="rId33"/>
    <p:sldId id="291" r:id="rId34"/>
    <p:sldId id="294" r:id="rId35"/>
    <p:sldId id="295" r:id="rId36"/>
    <p:sldId id="296" r:id="rId37"/>
    <p:sldId id="292" r:id="rId38"/>
    <p:sldId id="293" r:id="rId39"/>
    <p:sldId id="297" r:id="rId40"/>
    <p:sldId id="298" r:id="rId41"/>
    <p:sldId id="300" r:id="rId42"/>
    <p:sldId id="299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4" r:id="rId56"/>
    <p:sldId id="315" r:id="rId57"/>
    <p:sldId id="316" r:id="rId58"/>
    <p:sldId id="317" r:id="rId59"/>
    <p:sldId id="313" r:id="rId60"/>
    <p:sldId id="318" r:id="rId61"/>
    <p:sldId id="319" r:id="rId62"/>
    <p:sldId id="320" r:id="rId63"/>
    <p:sldId id="321" r:id="rId6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3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19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55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7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5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8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1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96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7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9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7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C530B-D18D-A525-3354-D3DE00177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ru-RU" sz="5400"/>
              <a:t>Занятие 8</a:t>
            </a:r>
            <a:br>
              <a:rPr lang="en-US" sz="5400"/>
            </a:br>
            <a:r>
              <a:rPr lang="en-US" sz="5400"/>
              <a:t>Domain-Driven Design</a:t>
            </a:r>
            <a:endParaRPr lang="ru-RU" sz="54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0E614E-5B0D-2E55-B3A7-97DEE2D75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D0101-0FFB-02CB-7232-22CFCC3DC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79" r="11032" b="2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1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7C7C3-90F8-DBF0-CFC4-3707681B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DDD?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3A5C54-3E9C-0E1B-A79F-86CDFC1A1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73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FA1B8-8FAF-F10A-79CC-A8CFF0D4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DDD?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C973C6-0FC5-F6B5-DE42-72CEEBD1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Domain-Driven Design (DDD) - это подход к проектированию программного обеспечения, который фокусируется на моделировании предметной области (</a:t>
            </a:r>
            <a:r>
              <a:rPr lang="ru-RU" dirty="0" err="1"/>
              <a:t>domain</a:t>
            </a:r>
            <a:r>
              <a:rPr lang="ru-RU" dirty="0"/>
              <a:t>) и ее представлении в виде моделей данных (</a:t>
            </a:r>
            <a:r>
              <a:rPr lang="ru-RU" dirty="0" err="1"/>
              <a:t>entities</a:t>
            </a:r>
            <a:r>
              <a:rPr lang="ru-RU" dirty="0"/>
              <a:t>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</a:t>
            </a:r>
            <a:r>
              <a:rPr lang="ru-RU" dirty="0" err="1"/>
              <a:t>aggregates</a:t>
            </a:r>
            <a:r>
              <a:rPr lang="ru-RU" dirty="0"/>
              <a:t>, </a:t>
            </a:r>
            <a:r>
              <a:rPr lang="ru-RU" dirty="0" err="1"/>
              <a:t>repositories</a:t>
            </a:r>
            <a:r>
              <a:rPr lang="ru-RU" dirty="0"/>
              <a:t>, </a:t>
            </a:r>
            <a:r>
              <a:rPr lang="ru-RU" dirty="0" err="1"/>
              <a:t>etc</a:t>
            </a:r>
            <a:r>
              <a:rPr lang="ru-RU" dirty="0"/>
              <a:t>.).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1668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90B3B-9830-6D9E-5CC7-74E81058B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C71CD-50CB-2952-AC57-A89A420E0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Domain</a:t>
            </a:r>
            <a:r>
              <a:rPr lang="ru-RU" dirty="0"/>
              <a:t>;</a:t>
            </a:r>
          </a:p>
          <a:p>
            <a:r>
              <a:rPr lang="en-US" dirty="0"/>
              <a:t>Model</a:t>
            </a:r>
            <a:r>
              <a:rPr lang="ru-RU" dirty="0"/>
              <a:t>;</a:t>
            </a:r>
          </a:p>
          <a:p>
            <a:r>
              <a:rPr lang="en-US" dirty="0"/>
              <a:t>Bounded context</a:t>
            </a:r>
            <a:r>
              <a:rPr lang="ru-RU" dirty="0"/>
              <a:t>;</a:t>
            </a:r>
          </a:p>
          <a:p>
            <a:r>
              <a:rPr lang="en-US" dirty="0"/>
              <a:t>Entity</a:t>
            </a:r>
            <a:r>
              <a:rPr lang="ru-RU" dirty="0"/>
              <a:t>;</a:t>
            </a:r>
          </a:p>
          <a:p>
            <a:r>
              <a:rPr lang="ru-RU" dirty="0"/>
              <a:t>Value Object;</a:t>
            </a:r>
            <a:endParaRPr lang="en-US" dirty="0"/>
          </a:p>
          <a:p>
            <a:r>
              <a:rPr lang="ru-RU" dirty="0" err="1"/>
              <a:t>Aggregate</a:t>
            </a:r>
            <a:r>
              <a:rPr lang="ru-RU" dirty="0"/>
              <a:t>;</a:t>
            </a:r>
          </a:p>
          <a:p>
            <a:r>
              <a:rPr lang="ru-RU" dirty="0" err="1"/>
              <a:t>Repository</a:t>
            </a:r>
            <a:r>
              <a:rPr lang="ru-RU" dirty="0"/>
              <a:t>;</a:t>
            </a:r>
          </a:p>
          <a:p>
            <a:r>
              <a:rPr lang="ru-RU" dirty="0"/>
              <a:t>Domain Service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084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4B5BF-3899-5F7C-508E-CBE4ECC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0AAA66-A352-4ACA-940D-97844C962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Domain - </a:t>
            </a:r>
            <a:r>
              <a:rPr lang="ru-RU" dirty="0"/>
              <a:t>предметная область, которая является основой для проектирования программного обеспечения;</a:t>
            </a:r>
          </a:p>
          <a:p>
            <a:r>
              <a:rPr lang="en-US" dirty="0"/>
              <a:t>Model - </a:t>
            </a:r>
            <a:r>
              <a:rPr lang="ru-RU" dirty="0"/>
              <a:t>абстракция, отражающая предметную область и ее основные понятия;</a:t>
            </a:r>
          </a:p>
          <a:p>
            <a:r>
              <a:rPr lang="en-US" dirty="0"/>
              <a:t>Bounded context - </a:t>
            </a:r>
            <a:r>
              <a:rPr lang="ru-RU" dirty="0"/>
              <a:t>область, в пределах которой термины и модели однозначно интерпретируются;</a:t>
            </a:r>
          </a:p>
          <a:p>
            <a:r>
              <a:rPr lang="en-US" dirty="0"/>
              <a:t>Entity - </a:t>
            </a:r>
            <a:r>
              <a:rPr lang="ru-RU" dirty="0"/>
              <a:t>объект, который имеет уникальный идентификатор и идентифицируется по нему;</a:t>
            </a:r>
          </a:p>
          <a:p>
            <a:r>
              <a:rPr lang="ru-RU" dirty="0"/>
              <a:t>Value Object - объект, который не имеет уникального идентификатора и идентифицируется по своим атрибутам;</a:t>
            </a:r>
            <a:endParaRPr lang="en-US" dirty="0"/>
          </a:p>
          <a:p>
            <a:r>
              <a:rPr lang="ru-RU" dirty="0" err="1"/>
              <a:t>Aggregate</a:t>
            </a:r>
            <a:r>
              <a:rPr lang="ru-RU" dirty="0"/>
              <a:t> - группа </a:t>
            </a:r>
            <a:r>
              <a:rPr lang="ru-RU" dirty="0" err="1"/>
              <a:t>entities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которые управляются как единое целое;</a:t>
            </a:r>
          </a:p>
          <a:p>
            <a:r>
              <a:rPr lang="ru-RU" dirty="0" err="1"/>
              <a:t>Repository</a:t>
            </a:r>
            <a:r>
              <a:rPr lang="ru-RU" dirty="0"/>
              <a:t> - интерфейс для доступа к </a:t>
            </a:r>
            <a:r>
              <a:rPr lang="ru-RU" dirty="0" err="1"/>
              <a:t>aggregate</a:t>
            </a:r>
            <a:r>
              <a:rPr lang="ru-RU" dirty="0"/>
              <a:t>;</a:t>
            </a:r>
          </a:p>
          <a:p>
            <a:r>
              <a:rPr lang="ru-RU" dirty="0"/>
              <a:t>Domain Service - сервис, который реализует бизнес-логику, не принадлежащую ни одной из сущностей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1975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1A46B-1444-CED4-F73C-EF21B779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есть примеры сущностей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4A2A1-6D60-6A52-471B-869650A58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2801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56194-C83D-DC8B-F702-AB08C10D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C713CF-747A-4EB9-37D7-2E46670D3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есть примеры сущностей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D580CA-69BC-7A7D-AFFE-6AAA9D821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Студент</a:t>
            </a:r>
            <a:r>
              <a:rPr lang="en-US" dirty="0"/>
              <a:t>;</a:t>
            </a:r>
          </a:p>
          <a:p>
            <a:r>
              <a:rPr lang="ru-RU" dirty="0"/>
              <a:t>Автомобиль</a:t>
            </a:r>
            <a:r>
              <a:rPr lang="en-US" dirty="0"/>
              <a:t>;</a:t>
            </a:r>
          </a:p>
          <a:p>
            <a:r>
              <a:rPr lang="ru-RU" dirty="0"/>
              <a:t>Сотрудник</a:t>
            </a:r>
            <a:r>
              <a:rPr lang="en-US" dirty="0"/>
              <a:t>;</a:t>
            </a:r>
          </a:p>
          <a:p>
            <a:r>
              <a:rPr lang="ru-RU" dirty="0"/>
              <a:t>И т.д.</a:t>
            </a:r>
          </a:p>
        </p:txBody>
      </p:sp>
    </p:spTree>
    <p:extLst>
      <p:ext uri="{BB962C8B-B14F-4D97-AF65-F5344CB8AC3E}">
        <p14:creationId xmlns:p14="http://schemas.microsoft.com/office/powerpoint/2010/main" val="351797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3CFE3-9552-38BB-42EE-38331D1D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сущности?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3CF7B4-9507-32B0-46BC-74B2FE29F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4421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E269A-CCCC-722A-741D-DEE1BE19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8EEAD-9D53-07F3-7AB4-DD620BD3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сущности?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D9412-851D-6C46-993D-56BF92183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Студент – однозначно идентифицируется номером студенческого билета</a:t>
            </a:r>
            <a:r>
              <a:rPr lang="en-US" dirty="0"/>
              <a:t>;</a:t>
            </a:r>
          </a:p>
          <a:p>
            <a:r>
              <a:rPr lang="ru-RU" dirty="0"/>
              <a:t>Автомобиль – однозначно идентифицируется </a:t>
            </a:r>
            <a:r>
              <a:rPr lang="en-US" dirty="0"/>
              <a:t>VIN;</a:t>
            </a:r>
          </a:p>
          <a:p>
            <a:r>
              <a:rPr lang="ru-RU" dirty="0"/>
              <a:t>Сотрудник – однозначно идентифицируется табельным номером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18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B34C1-1019-654B-C08C-73324C39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есть примеры </a:t>
            </a:r>
            <a:r>
              <a:rPr lang="en-US" dirty="0"/>
              <a:t>value objects?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39B9BB-1170-5ADF-CF52-60BB2C37A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9160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DBF7-ACFA-66BC-F6AD-90D23736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0D9F7-66C9-18C2-0BCF-DE9B62FF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есть примеры </a:t>
            </a:r>
            <a:r>
              <a:rPr lang="en-US" dirty="0"/>
              <a:t>value objects?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225452-52D7-89BE-1ABE-617A50DDE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Размер</a:t>
            </a:r>
            <a:r>
              <a:rPr lang="en-US" dirty="0"/>
              <a:t>;</a:t>
            </a:r>
          </a:p>
          <a:p>
            <a:r>
              <a:rPr lang="ru-RU" dirty="0"/>
              <a:t>Цена</a:t>
            </a:r>
            <a:r>
              <a:rPr lang="en-US" dirty="0"/>
              <a:t>;</a:t>
            </a:r>
          </a:p>
          <a:p>
            <a:r>
              <a:rPr lang="ru-RU" dirty="0"/>
              <a:t>Цвет</a:t>
            </a:r>
            <a:r>
              <a:rPr lang="en-US" dirty="0"/>
              <a:t>;</a:t>
            </a:r>
          </a:p>
          <a:p>
            <a:r>
              <a:rPr lang="ru-RU" dirty="0"/>
              <a:t>И т.д.</a:t>
            </a:r>
          </a:p>
        </p:txBody>
      </p:sp>
    </p:spTree>
    <p:extLst>
      <p:ext uri="{BB962C8B-B14F-4D97-AF65-F5344CB8AC3E}">
        <p14:creationId xmlns:p14="http://schemas.microsoft.com/office/powerpoint/2010/main" val="300159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0C2F1-B150-53F4-AADD-1DBA059E6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4557D9-8279-8454-C478-276D15A67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Есть некоторая компания </a:t>
            </a:r>
            <a:r>
              <a:rPr lang="ru-RU" dirty="0" err="1"/>
              <a:t>AutoMarket</a:t>
            </a:r>
            <a:r>
              <a:rPr lang="ru-RU" dirty="0"/>
              <a:t> - она специализируется на продаже подержанных автомобилей. Сейчас весь учет ведется в Excel и бизнес хочет автоматизировать процессы.</a:t>
            </a:r>
          </a:p>
        </p:txBody>
      </p:sp>
    </p:spTree>
    <p:extLst>
      <p:ext uri="{BB962C8B-B14F-4D97-AF65-F5344CB8AC3E}">
        <p14:creationId xmlns:p14="http://schemas.microsoft.com/office/powerpoint/2010/main" val="830552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8A5A2-B39E-0824-C41C-4AE378486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6AEE10-1188-94A0-ABB2-8C3E8EA7C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ru-RU" dirty="0"/>
              <a:t>Мы хотим иметь возможность регистрировать автомобили, которые поступают к нам на площадку, и видеть их текущий статус: </a:t>
            </a:r>
            <a:r>
              <a:rPr lang="en-US" dirty="0"/>
              <a:t>“</a:t>
            </a:r>
            <a:r>
              <a:rPr lang="ru-RU" dirty="0"/>
              <a:t>в наличии”, “зарезервирован”, “продан”</a:t>
            </a:r>
            <a:r>
              <a:rPr lang="en-US"/>
              <a:t>;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dirty="0"/>
              <a:t>Клиент может зарезервировать автомобиль на определенное время - зарезервированный автомобиль не может быть продан другому клиенту;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dirty="0"/>
              <a:t>Клиент может купить автомобиль - купить можно либо зарезервированный автомобиль, либо автомобиль, который находится в наличии;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dirty="0"/>
              <a:t>Мы хотим понимать, кто покупает автомобили - имена клиентов, телефоны и почты.</a:t>
            </a:r>
          </a:p>
          <a:p>
            <a:pPr marL="457200" indent="-4572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146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36B96-6360-D88D-415D-2039F056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сущности можно выделить?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ED25D3-4AA0-1E50-86BF-448A2631E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949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047F-3D0C-B0BF-56BF-8ECBC0B3D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249FE-DA72-D170-91A0-0585E9842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сущности можно выделить?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B9BA80-41AA-F92C-1D8C-8F0BCD2D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Автомобиль</a:t>
            </a:r>
            <a:r>
              <a:rPr lang="en-US" dirty="0"/>
              <a:t>;</a:t>
            </a:r>
          </a:p>
          <a:p>
            <a:r>
              <a:rPr lang="ru-RU" dirty="0"/>
              <a:t>Клиент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0871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F3A83-46BA-AFD3-DB26-0D95D193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Являются ли продажа и резерв сущностями?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39772B-949D-2884-174E-1802E7498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20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0E5B-3D68-79FF-29C6-434D9A67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328DE-2679-8605-BB25-A525249D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Являются ли продажа и резерв сущностями?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AA73AC-210B-DCB6-854C-13CF88610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нашем случае, скорее, нет, так как бизнес рассматривает их только в контексте учета автомобилей, но не как самостоятельные единицы.</a:t>
            </a:r>
          </a:p>
        </p:txBody>
      </p:sp>
    </p:spTree>
    <p:extLst>
      <p:ext uri="{BB962C8B-B14F-4D97-AF65-F5344CB8AC3E}">
        <p14:creationId xmlns:p14="http://schemas.microsoft.com/office/powerpoint/2010/main" val="652933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D5F85-4E94-D8DC-D6D1-AA2FB1E2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AA05C-CCB2-494E-D03F-C043B9BC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когда они будут являться сущностями?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29230-649E-0CD6-8AD1-3D0318B6C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31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44BAD-B12E-DD35-32A0-99D5D3A5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0B7FC-0958-C2CC-F4AE-3260D024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когда они будут являться сущностями?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B8CAA4-7874-71B9-58C1-D74FC220A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Например, если у нас появится требование о предоставлении отчетов о продажах или резервах. В этом случае уже имеет смысл выделять их как отдельные сущности.</a:t>
            </a:r>
          </a:p>
        </p:txBody>
      </p:sp>
    </p:spTree>
    <p:extLst>
      <p:ext uri="{BB962C8B-B14F-4D97-AF65-F5344CB8AC3E}">
        <p14:creationId xmlns:p14="http://schemas.microsoft.com/office/powerpoint/2010/main" val="1937744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F0251-5D11-8440-867E-104250BB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какие </a:t>
            </a:r>
            <a:r>
              <a:rPr lang="en-US" dirty="0"/>
              <a:t>Value Objects </a:t>
            </a:r>
            <a:r>
              <a:rPr lang="ru-RU" dirty="0"/>
              <a:t>возможны в нашей задаче?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4EE02B-CEA9-3036-4EA5-5B4EDD494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109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0068-34BD-D4CF-B867-D1C52F10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C4A21-4452-FE46-2633-B0577F04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какие </a:t>
            </a:r>
            <a:r>
              <a:rPr lang="en-US" dirty="0"/>
              <a:t>Value Objects </a:t>
            </a:r>
            <a:r>
              <a:rPr lang="ru-RU" dirty="0"/>
              <a:t>возможны в нашей задаче?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2B25D5-8796-4FFE-78C9-EE0E224F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VIN</a:t>
            </a:r>
            <a:r>
              <a:rPr lang="ru-RU" dirty="0"/>
              <a:t> – имеет определенный формат, в связи с чем имеет смысл создать для него отдельный </a:t>
            </a:r>
            <a:r>
              <a:rPr lang="en-US" dirty="0"/>
              <a:t>value object;</a:t>
            </a:r>
          </a:p>
          <a:p>
            <a:r>
              <a:rPr lang="en-US" dirty="0"/>
              <a:t>Sale – </a:t>
            </a:r>
            <a:r>
              <a:rPr lang="ru-RU" dirty="0"/>
              <a:t>можно описать продажу как </a:t>
            </a:r>
            <a:r>
              <a:rPr lang="en-US" dirty="0"/>
              <a:t>value object </a:t>
            </a:r>
            <a:r>
              <a:rPr lang="ru-RU" dirty="0"/>
              <a:t>для упрощения работы с ней</a:t>
            </a:r>
            <a:r>
              <a:rPr lang="en-US" dirty="0"/>
              <a:t>;</a:t>
            </a:r>
          </a:p>
          <a:p>
            <a:r>
              <a:rPr lang="en-US" dirty="0"/>
              <a:t>Reservation – </a:t>
            </a:r>
            <a:r>
              <a:rPr lang="ru-RU" dirty="0"/>
              <a:t>резерв также можно описать как </a:t>
            </a:r>
            <a:r>
              <a:rPr lang="en-US" dirty="0"/>
              <a:t>value object;</a:t>
            </a:r>
          </a:p>
          <a:p>
            <a:r>
              <a:rPr lang="en-US" dirty="0"/>
              <a:t>Phone – </a:t>
            </a:r>
            <a:r>
              <a:rPr lang="ru-RU" dirty="0"/>
              <a:t>телефон клиента, имеет определенный формат и является хорошим кандидатом для </a:t>
            </a:r>
            <a:r>
              <a:rPr lang="en-US" dirty="0"/>
              <a:t>value object;</a:t>
            </a:r>
          </a:p>
          <a:p>
            <a:r>
              <a:rPr lang="en-US" dirty="0"/>
              <a:t>Email – </a:t>
            </a:r>
            <a:r>
              <a:rPr lang="ru-RU" dirty="0"/>
              <a:t>адрес электронной почты клиента, который тоже обычно соответствует определенному формату</a:t>
            </a:r>
            <a:r>
              <a:rPr lang="en-US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964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057F9-8466-4CAE-33F2-BE065BB85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Теперь к коду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67ABB340-46D5-D372-5A5A-EBE1E8E5C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660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993AC-839B-53B3-E56D-A5D5B18A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Создадим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2C7474-099B-A975-CAB1-F546D48B9F6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pPr>
              <a:buFont typeface="Consolas" panose="020B0609020204030204" pitchFamily="49" charset="0"/>
              <a:buChar char="$"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dotnet new solution -n 08-ddd</a:t>
            </a:r>
          </a:p>
          <a:p>
            <a:pPr>
              <a:buFont typeface="Consolas" panose="020B0609020204030204" pitchFamily="49" charset="0"/>
              <a:buChar char="$"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dotnet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sln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migrate</a:t>
            </a:r>
          </a:p>
          <a:p>
            <a:pPr>
              <a:buFont typeface="Consolas" panose="020B0609020204030204" pitchFamily="49" charset="0"/>
              <a:buChar char="$"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rm 08-ddd.sln</a:t>
            </a:r>
          </a:p>
          <a:p>
            <a:pPr>
              <a:buFont typeface="Consolas" panose="020B0609020204030204" pitchFamily="49" charset="0"/>
              <a:buChar char="$"/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dotnet new console -n AutoMarketApp -o ./AutoMarketApp</a:t>
            </a:r>
          </a:p>
          <a:p>
            <a:pPr>
              <a:buFont typeface="Consolas" panose="020B0609020204030204" pitchFamily="49" charset="0"/>
              <a:buChar char="$"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dotnet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sln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add ./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AutoMarketApp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AutoMarketApp.csproj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30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82CB8-D365-6641-D1E9-3E97CE85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1B341B-F3E7-5FE2-E50F-792AA8A66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Корень</a:t>
            </a:r>
          </a:p>
          <a:p>
            <a:pPr lvl="1"/>
            <a:r>
              <a:rPr lang="en-US" dirty="0"/>
              <a:t>Domain – </a:t>
            </a:r>
            <a:r>
              <a:rPr lang="ru-RU" dirty="0"/>
              <a:t>здесь будет вся доменная логика</a:t>
            </a:r>
            <a:endParaRPr lang="en-US" dirty="0"/>
          </a:p>
          <a:p>
            <a:pPr lvl="2"/>
            <a:r>
              <a:rPr lang="en-US" dirty="0"/>
              <a:t>Models – </a:t>
            </a:r>
            <a:r>
              <a:rPr lang="ru-RU" dirty="0"/>
              <a:t>доменные модели</a:t>
            </a:r>
          </a:p>
          <a:p>
            <a:pPr lvl="2"/>
            <a:r>
              <a:rPr lang="en-US" dirty="0"/>
              <a:t>Repositories – </a:t>
            </a:r>
            <a:r>
              <a:rPr lang="ru-RU" dirty="0"/>
              <a:t>репозитории доменных сущностей</a:t>
            </a:r>
            <a:endParaRPr lang="en-US" dirty="0"/>
          </a:p>
          <a:p>
            <a:pPr lvl="1"/>
            <a:r>
              <a:rPr lang="en-US" dirty="0"/>
              <a:t>Infrastructure – </a:t>
            </a:r>
            <a:r>
              <a:rPr lang="ru-RU" dirty="0"/>
              <a:t>здесь храним различные инфраструктурные вещи</a:t>
            </a:r>
            <a:endParaRPr lang="en-US" dirty="0"/>
          </a:p>
          <a:p>
            <a:pPr lvl="1"/>
            <a:r>
              <a:rPr lang="en-US" dirty="0" err="1"/>
              <a:t>Program.cs</a:t>
            </a:r>
            <a:r>
              <a:rPr lang="en-US" dirty="0"/>
              <a:t> – </a:t>
            </a:r>
            <a:r>
              <a:rPr lang="ru-RU" dirty="0"/>
              <a:t>точка входа в приложение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0009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D3C1291-2C5F-43B2-60F7-5B94D2A6A4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Опишем модели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029282C2-5AE4-8F05-26B0-06951BF9D9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34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085E1-82F1-FA19-3513-3E02012A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Опишем наши </a:t>
            </a:r>
            <a:r>
              <a:rPr lang="en-US" dirty="0"/>
              <a:t>Value Objects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772065C-1047-9D39-DB53-E0A72B869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1236418"/>
            <a:ext cx="6280150" cy="4121639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61149B5A-D331-82AA-34E6-788FEF2D6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каталоге </a:t>
            </a:r>
            <a:r>
              <a:rPr lang="en-US" dirty="0"/>
              <a:t>Domain / Models</a:t>
            </a:r>
            <a:r>
              <a:rPr lang="ru-RU" dirty="0"/>
              <a:t> создадим класс </a:t>
            </a:r>
            <a:r>
              <a:rPr lang="en-US" dirty="0"/>
              <a:t>Email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3832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7B85-677B-145D-BDCF-82FB8FBFD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3E634-6AA7-3CA7-16D8-C1CA7C39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Опишем наши </a:t>
            </a:r>
            <a:r>
              <a:rPr lang="en-US" dirty="0"/>
              <a:t>Value Objects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89D1B6-7FDB-F1E2-6369-8AC4362A6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каталоге </a:t>
            </a:r>
            <a:r>
              <a:rPr lang="en-US" dirty="0"/>
              <a:t>Domain / Models</a:t>
            </a:r>
            <a:r>
              <a:rPr lang="ru-RU" dirty="0"/>
              <a:t> создадим класс </a:t>
            </a:r>
            <a:r>
              <a:rPr lang="en-US" dirty="0" err="1"/>
              <a:t>MobilePhone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9B64BFA-4A6C-B493-2BAF-D4ECB1B5C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720288"/>
            <a:ext cx="6280150" cy="515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12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71DD8-B740-BD98-BEDD-420284BA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B84C3D-4477-2122-096A-BC4944DE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Опишем модель клиента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CE38AC-2B8A-1803-E71F-EA5AD699D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каталоге </a:t>
            </a:r>
            <a:r>
              <a:rPr lang="en-US" dirty="0"/>
              <a:t>Domain / Models</a:t>
            </a:r>
            <a:r>
              <a:rPr lang="ru-RU" dirty="0"/>
              <a:t> создадим класс </a:t>
            </a:r>
            <a:r>
              <a:rPr lang="en-US" dirty="0"/>
              <a:t>Customer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80EFFB4-4510-D8C7-0AA6-DB14E8C0A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1137275"/>
            <a:ext cx="6280150" cy="43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25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AF5D6-4579-8C52-6226-B4348227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Опишем факт продажи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0405AB7-A46F-DDE7-719D-960FA10CC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4203" y="2011183"/>
            <a:ext cx="6039693" cy="2572109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BA943CAE-D0CA-DAC0-C8DA-F79D7CFEC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каталоге </a:t>
            </a:r>
            <a:r>
              <a:rPr lang="en-US" dirty="0"/>
              <a:t>Domain / Models</a:t>
            </a:r>
            <a:r>
              <a:rPr lang="ru-RU" dirty="0"/>
              <a:t> создадим класс </a:t>
            </a:r>
            <a:r>
              <a:rPr lang="en-US" dirty="0"/>
              <a:t>Sale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5802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76F92-74FB-4A7D-E8C6-2D9B5524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Опишем факт резерва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4F3B0DC-387D-B4E4-F624-46333160B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1858037"/>
            <a:ext cx="6280150" cy="2878401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83719CA-47B1-4DC7-6B9F-E58B3B328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каталоге </a:t>
            </a:r>
            <a:r>
              <a:rPr lang="en-US" dirty="0"/>
              <a:t>Domain / Models</a:t>
            </a:r>
            <a:r>
              <a:rPr lang="ru-RU" dirty="0"/>
              <a:t> создадим класс </a:t>
            </a:r>
            <a:r>
              <a:rPr lang="en-US" dirty="0"/>
              <a:t>Reservation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0904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C121A-7DE0-6D78-638C-46473BFD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F7E29-3D1B-0335-E854-2B212059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Опишем автомобиль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1EB38C-AA30-D52B-798C-256A684AF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каталоге </a:t>
            </a:r>
            <a:r>
              <a:rPr lang="en-US" dirty="0"/>
              <a:t>Domain / Models</a:t>
            </a:r>
            <a:r>
              <a:rPr lang="ru-RU" dirty="0"/>
              <a:t> создадим класс </a:t>
            </a:r>
            <a:r>
              <a:rPr lang="en-US" dirty="0"/>
              <a:t>Car</a:t>
            </a:r>
            <a:endParaRPr lang="ru-RU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7A03C3C1-2487-54F0-0F9E-FABFE288C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7269" y="554038"/>
            <a:ext cx="609356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89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A220041-5339-FF9E-558E-0774EF833A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Модели описаны – описываем репозиторий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280FD9D9-7A45-81FA-5A59-B4AF72E997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7796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4C2C9A9-DF8E-CA50-164F-91BBF5082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Опишем репозиторий клиентов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EF9DD82C-56AA-6494-BC26-5297191E9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3679" y="2706605"/>
            <a:ext cx="2800741" cy="1181265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E823F788-0C17-C41F-E3BE-1D315417C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Создадим интерфейс </a:t>
            </a:r>
            <a:r>
              <a:rPr lang="en-US" dirty="0" err="1"/>
              <a:t>ICustomerRepository</a:t>
            </a:r>
            <a:r>
              <a:rPr lang="ru-RU" dirty="0"/>
              <a:t> в каталоге </a:t>
            </a:r>
            <a:r>
              <a:rPr lang="en-US" dirty="0"/>
              <a:t>Domain / Repositories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4554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D0F6-A29F-79F3-1AA7-E0992F10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EACEA-BF3C-195B-5170-FA7F920B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клиентов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CF9DBC-15C5-DE4A-A08E-7BBB1CA82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Для хранения будем использовать </a:t>
            </a:r>
            <a:r>
              <a:rPr lang="en-US" dirty="0"/>
              <a:t>JSON-</a:t>
            </a:r>
            <a:r>
              <a:rPr lang="ru-RU" dirty="0"/>
              <a:t>файл, чтобы не разбираться со сложными </a:t>
            </a:r>
            <a:r>
              <a:rPr lang="en-US" dirty="0"/>
              <a:t>ORM</a:t>
            </a:r>
            <a:r>
              <a:rPr lang="ru-RU" dirty="0"/>
              <a:t> на данном этапе.</a:t>
            </a:r>
          </a:p>
          <a:p>
            <a:endParaRPr lang="en-US" dirty="0"/>
          </a:p>
          <a:p>
            <a:r>
              <a:rPr lang="ru-RU" dirty="0"/>
              <a:t>Начнем с добавления </a:t>
            </a:r>
            <a:r>
              <a:rPr lang="en-US" dirty="0"/>
              <a:t>DTO </a:t>
            </a:r>
            <a:r>
              <a:rPr lang="ru-RU" dirty="0"/>
              <a:t>для хранения клиентов.</a:t>
            </a:r>
          </a:p>
          <a:p>
            <a:endParaRPr lang="ru-RU" dirty="0"/>
          </a:p>
          <a:p>
            <a:r>
              <a:rPr lang="ru-RU" dirty="0"/>
              <a:t>Создадим класс </a:t>
            </a:r>
            <a:r>
              <a:rPr lang="en-US" dirty="0" err="1"/>
              <a:t>CustomerDto</a:t>
            </a:r>
            <a:r>
              <a:rPr lang="en-US" dirty="0"/>
              <a:t> </a:t>
            </a:r>
            <a:r>
              <a:rPr lang="ru-RU" dirty="0"/>
              <a:t>в каталоге </a:t>
            </a:r>
            <a:r>
              <a:rPr lang="en-US" dirty="0"/>
              <a:t>Infrastructure / </a:t>
            </a:r>
            <a:r>
              <a:rPr lang="en-US" dirty="0" err="1"/>
              <a:t>Dtos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5F82582-466A-36CC-6109-0AB80C2E4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1785" y="2720895"/>
            <a:ext cx="2724530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02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9DCCC-45E2-C774-D3BA-20F9485A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клиентов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0515FB-9E31-97EB-379B-40CE94B57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Чтобы самостоятельно не писать и не поддерживать код маппинга между доменными сущностями и </a:t>
            </a:r>
            <a:r>
              <a:rPr lang="en-US" dirty="0"/>
              <a:t>DTO, </a:t>
            </a:r>
            <a:r>
              <a:rPr lang="ru-RU" dirty="0"/>
              <a:t>можно использовать специализированные инструменты. Один из них называется </a:t>
            </a:r>
            <a:r>
              <a:rPr lang="en-US" dirty="0" err="1"/>
              <a:t>Mapperly</a:t>
            </a:r>
            <a:r>
              <a:rPr lang="en-US" dirty="0"/>
              <a:t>. </a:t>
            </a:r>
            <a:r>
              <a:rPr lang="ru-RU" dirty="0"/>
              <a:t>Добавим его в наш проект указанной командой.</a:t>
            </a:r>
            <a:endParaRPr lang="en-US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B375E7F-C956-1682-31BC-22235F180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975" y="554038"/>
            <a:ext cx="6280150" cy="5486400"/>
          </a:xfrm>
          <a:solidFill>
            <a:schemeClr val="tx1"/>
          </a:solidFill>
        </p:spPr>
        <p:txBody>
          <a:bodyPr>
            <a:normAutofit/>
          </a:bodyPr>
          <a:lstStyle/>
          <a:p>
            <a:pPr>
              <a:buFont typeface="Consolas" panose="020B0609020204030204" pitchFamily="49" charset="0"/>
              <a:buChar char="$"/>
            </a:pP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dotnet add .\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AutoMarketApp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AutoMarketApp.csproj</a:t>
            </a: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 package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Riok.Mapperly</a:t>
            </a:r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67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96DFFC-9FA0-4C1C-597D-DF048055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клиентов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A5C246-47FE-0B59-1D01-8E14FD91F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Добавим класс-заглушку для генерации </a:t>
            </a:r>
            <a:r>
              <a:rPr lang="ru-RU" dirty="0" err="1"/>
              <a:t>маппера</a:t>
            </a:r>
            <a:r>
              <a:rPr lang="ru-RU" dirty="0"/>
              <a:t> клиентов.</a:t>
            </a:r>
          </a:p>
          <a:p>
            <a:r>
              <a:rPr lang="ru-RU" dirty="0"/>
              <a:t>Для этого в каталоге </a:t>
            </a:r>
            <a:r>
              <a:rPr lang="en-US" dirty="0"/>
              <a:t>Infrastructure / Mappers </a:t>
            </a:r>
            <a:r>
              <a:rPr lang="ru-RU" dirty="0"/>
              <a:t>создадим класс </a:t>
            </a:r>
            <a:r>
              <a:rPr lang="en-US" dirty="0" err="1"/>
              <a:t>CustomerMapper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 на пространство имен и атрибут, выделенные стрелками.</a:t>
            </a:r>
          </a:p>
          <a:p>
            <a:r>
              <a:rPr lang="ru-RU" dirty="0"/>
              <a:t>Они отвечают за то, чтобы активировать механизм автоматической генерации код маппинга.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E823CB4-80D8-37DC-E235-AD2AB45C4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3835" y="2092157"/>
            <a:ext cx="5220429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21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915FF-7D5B-ED5F-6159-8D7FEB1BD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клиентов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59D5CB-506B-1D68-BC63-D4CCC15FA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Теперь создадим класс </a:t>
            </a:r>
            <a:r>
              <a:rPr lang="en-US" dirty="0" err="1"/>
              <a:t>JsonCustomerRepository</a:t>
            </a:r>
            <a:r>
              <a:rPr lang="ru-RU" dirty="0"/>
              <a:t> в каталоге </a:t>
            </a:r>
            <a:r>
              <a:rPr lang="en-US" dirty="0"/>
              <a:t>Infrastructure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C2C0C493-AE00-A707-2BB6-D00CFFFB8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1075354"/>
            <a:ext cx="6280150" cy="444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74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18B1E-0189-BDB1-866E-89C88B06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DBBEA-AC96-C25D-0538-81B9905A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клиентов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BCD17E-DF8C-579B-E2A7-12F0FE343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созданный класс добавим реализацию добавленного ранее интерфейса</a:t>
            </a:r>
            <a:endParaRPr lang="en-US" dirty="0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FDA31481-7A4B-0D58-CAE5-BD0D9400B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1033" y="554038"/>
            <a:ext cx="436603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62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208EA9-53F4-E3C4-45FE-62EEB093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Опишем репозиторий автомобилей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5E61E9F-FCD8-9104-90FA-AE7D44DDC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9443" y="2663737"/>
            <a:ext cx="2429214" cy="1267002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6B755C9-74AD-ED83-DF98-0C16F6D73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Создадим интерфейс </a:t>
            </a:r>
            <a:r>
              <a:rPr lang="en-US" dirty="0" err="1"/>
              <a:t>ICarRepository</a:t>
            </a:r>
            <a:r>
              <a:rPr lang="en-US" dirty="0"/>
              <a:t> </a:t>
            </a:r>
            <a:r>
              <a:rPr lang="ru-RU" dirty="0"/>
              <a:t>в каталоге </a:t>
            </a:r>
            <a:r>
              <a:rPr lang="en-US" dirty="0"/>
              <a:t>Domain / Repositories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2490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E674A3-8875-0787-FD6E-022D64B1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автомобилей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3F4188-E13B-BBCD-1EC7-BDE0E47D7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7469" y="1830183"/>
            <a:ext cx="2953162" cy="2934109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1B207238-4FA0-5D73-7087-BBD5E6B22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Для хранения аналогично с клиентами будем использовать </a:t>
            </a:r>
            <a:r>
              <a:rPr lang="en-US" dirty="0"/>
              <a:t>JSON-</a:t>
            </a:r>
            <a:r>
              <a:rPr lang="ru-RU" dirty="0"/>
              <a:t>файл. Для начала добавим соответствующие </a:t>
            </a:r>
            <a:r>
              <a:rPr lang="en-US" dirty="0"/>
              <a:t>DTO.</a:t>
            </a:r>
          </a:p>
          <a:p>
            <a:r>
              <a:rPr lang="ru-RU" dirty="0"/>
              <a:t>Создадим файл </a:t>
            </a:r>
            <a:r>
              <a:rPr lang="en-US" dirty="0" err="1"/>
              <a:t>CarDto.cs</a:t>
            </a:r>
            <a:r>
              <a:rPr lang="en-US" dirty="0"/>
              <a:t> </a:t>
            </a:r>
            <a:r>
              <a:rPr lang="ru-RU" dirty="0"/>
              <a:t>в каталоге </a:t>
            </a:r>
            <a:r>
              <a:rPr lang="en-US" dirty="0"/>
              <a:t>Infrastructure / </a:t>
            </a:r>
            <a:r>
              <a:rPr lang="en-US" dirty="0" err="1"/>
              <a:t>Dtos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31524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87875-F510-7CE9-0C22-8DFC6EFB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CFB84-6721-358F-8DF0-4351079B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автомобилей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62E5E7-DF85-E71C-A3A7-90EF4ABEF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Теперь добавим класс для маппинга.</a:t>
            </a:r>
          </a:p>
          <a:p>
            <a:r>
              <a:rPr lang="ru-RU" dirty="0"/>
              <a:t>Создадим класс </a:t>
            </a:r>
            <a:r>
              <a:rPr lang="en-US" dirty="0" err="1"/>
              <a:t>CarMapper</a:t>
            </a:r>
            <a:r>
              <a:rPr lang="ru-RU" dirty="0"/>
              <a:t> в каталоге </a:t>
            </a:r>
            <a:r>
              <a:rPr lang="en-US" dirty="0"/>
              <a:t>Infrastructure / Mappers.</a:t>
            </a:r>
          </a:p>
          <a:p>
            <a:r>
              <a:rPr lang="ru-RU" dirty="0"/>
              <a:t>Обратите внимание на использование генератора </a:t>
            </a:r>
            <a:r>
              <a:rPr lang="ru-RU" dirty="0" err="1"/>
              <a:t>маппингов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8850259A-1D97-9264-4876-E03F563FD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2353020"/>
            <a:ext cx="6280150" cy="188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46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0CFCF-EEF0-49BF-2B55-B9EF1626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автомобилей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2B7A9F5-9A75-4FAA-9CF4-55C503CFE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8864" y="554038"/>
            <a:ext cx="4390372" cy="54864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B62B4DC0-0595-2908-F766-5516854D0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 тот же класс добавим методы для маппинга самого автомобиля.</a:t>
            </a:r>
          </a:p>
          <a:p>
            <a:r>
              <a:rPr lang="ru-RU" dirty="0"/>
              <a:t>Здесь маппинг уже довольно сложный – поэтому нам проще написать его самостоятельно.</a:t>
            </a:r>
          </a:p>
        </p:txBody>
      </p:sp>
    </p:spTree>
    <p:extLst>
      <p:ext uri="{BB962C8B-B14F-4D97-AF65-F5344CB8AC3E}">
        <p14:creationId xmlns:p14="http://schemas.microsoft.com/office/powerpoint/2010/main" val="7349122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FA30B-5475-B02E-5B02-7E5DB7A2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автомобилей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AC6BFA6-6882-DE36-428F-7219AC908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835801"/>
            <a:ext cx="6280150" cy="4922874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5436E89-9938-20E1-2457-7609C2D79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Наконец, добавляем реализацию самого репозитория.</a:t>
            </a:r>
          </a:p>
          <a:p>
            <a:r>
              <a:rPr lang="ru-RU" dirty="0"/>
              <a:t>Создаем класс </a:t>
            </a:r>
            <a:r>
              <a:rPr lang="en-US" dirty="0" err="1"/>
              <a:t>JsonCarRepository</a:t>
            </a:r>
            <a:r>
              <a:rPr lang="en-US" dirty="0"/>
              <a:t> </a:t>
            </a:r>
            <a:r>
              <a:rPr lang="ru-RU" dirty="0"/>
              <a:t>в каталоге </a:t>
            </a:r>
            <a:r>
              <a:rPr lang="en-US" dirty="0"/>
              <a:t>Infrastructure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7719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04DBD-1397-8DA2-8FB8-FBAA3A32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репозитория автомобилей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C4780A1-870E-0845-DD05-CE5C30C9E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3619" y="554038"/>
            <a:ext cx="5180862" cy="54864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8ED4DB5E-C75E-1FB8-4FB8-AD9F154E5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И добавляем в созданный класс реализацию интерфейса репозитория.</a:t>
            </a:r>
          </a:p>
        </p:txBody>
      </p:sp>
    </p:spTree>
    <p:extLst>
      <p:ext uri="{BB962C8B-B14F-4D97-AF65-F5344CB8AC3E}">
        <p14:creationId xmlns:p14="http://schemas.microsoft.com/office/powerpoint/2010/main" val="7605194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86319F9-1DC8-DC8A-CECC-4CDF47FFB7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Прикладные сервисы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1AB0A40-E705-58F6-400A-B0DA201C9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8741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9A9AE88-00DE-4832-35C5-7483C611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 для работы с клиентами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64F2C9F-2B67-FCE8-6EE9-B83741C36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9019" y="1358630"/>
            <a:ext cx="5630061" cy="3877216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94CEE01F-0EB8-1A55-DD20-5E089B16B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Добавим сервис для работы с клиентами. Для этого добавим класс </a:t>
            </a:r>
            <a:r>
              <a:rPr lang="en-US" dirty="0" err="1"/>
              <a:t>CustomerService</a:t>
            </a:r>
            <a:r>
              <a:rPr lang="en-US" dirty="0"/>
              <a:t> </a:t>
            </a:r>
            <a:r>
              <a:rPr lang="ru-RU" dirty="0"/>
              <a:t>в каталоге </a:t>
            </a:r>
            <a:r>
              <a:rPr lang="en-US" dirty="0"/>
              <a:t>Application / Services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3696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AEDC87-F922-D913-92B9-AC1EE084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 для работы с автомобилями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485A00-DD5E-8076-BD63-ED746F0F9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Добавим сервис для работы с автомобилями.</a:t>
            </a:r>
          </a:p>
          <a:p>
            <a:r>
              <a:rPr lang="ru-RU" dirty="0"/>
              <a:t>Для этого добавим класс </a:t>
            </a:r>
            <a:r>
              <a:rPr lang="en-US" dirty="0" err="1"/>
              <a:t>CarService</a:t>
            </a:r>
            <a:r>
              <a:rPr lang="en-US" dirty="0"/>
              <a:t> </a:t>
            </a:r>
            <a:r>
              <a:rPr lang="ru-RU" dirty="0"/>
              <a:t>в каталог </a:t>
            </a:r>
            <a:r>
              <a:rPr lang="en-US" dirty="0"/>
              <a:t>Application / Services</a:t>
            </a: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4356E89-E215-B0A5-70EC-65D112A31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1056324"/>
            <a:ext cx="6280150" cy="448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45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AD6B0-074C-64CA-974F-AC0A0549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Сервис для работы с автомобилями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D1BDCA2-80C0-6A91-DD29-6B1B67124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5646" y="554038"/>
            <a:ext cx="4976807" cy="54864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B0D43D3E-062A-74CF-A18C-36F25C18A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Дополним созданный сервис, добавив туда методы для резервирования и продажи автомобилей</a:t>
            </a:r>
          </a:p>
        </p:txBody>
      </p:sp>
    </p:spTree>
    <p:extLst>
      <p:ext uri="{BB962C8B-B14F-4D97-AF65-F5344CB8AC3E}">
        <p14:creationId xmlns:p14="http://schemas.microsoft.com/office/powerpoint/2010/main" val="29508778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A28CC99-25A1-4D2E-A967-FC336DAE94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Объединяем компоненты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6AF66D93-C1CE-A102-0A71-5E6CEE025E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1227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5CB4C7C-FB59-52FD-3986-923BBA37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DI-</a:t>
            </a:r>
            <a:r>
              <a:rPr lang="ru-RU" dirty="0"/>
              <a:t>контейнер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4AD8FBC-95A7-DEC8-0644-C871EA1DA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Мы сделаем простое приложение с консольным интерфейсом.</a:t>
            </a:r>
          </a:p>
          <a:p>
            <a:r>
              <a:rPr lang="ru-RU" dirty="0"/>
              <a:t>Для начала используем изученный ранее </a:t>
            </a:r>
            <a:r>
              <a:rPr lang="en-US" dirty="0"/>
              <a:t>DI-</a:t>
            </a:r>
            <a:r>
              <a:rPr lang="ru-RU" dirty="0"/>
              <a:t>контейнер для построения компонентов приложения.</a:t>
            </a:r>
          </a:p>
          <a:p>
            <a:r>
              <a:rPr lang="ru-RU" dirty="0"/>
              <a:t>Для этого добавим соответствующий </a:t>
            </a:r>
            <a:r>
              <a:rPr lang="en-US" dirty="0"/>
              <a:t>NuGet-</a:t>
            </a:r>
            <a:r>
              <a:rPr lang="ru-RU" dirty="0"/>
              <a:t>пакет в приложение.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12A3BEF-678A-A634-D1C4-5B4008D9B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975" y="554038"/>
            <a:ext cx="6280150" cy="5486400"/>
          </a:xfrm>
          <a:solidFill>
            <a:schemeClr val="tx1"/>
          </a:solidFill>
        </p:spPr>
        <p:txBody>
          <a:bodyPr>
            <a:normAutofit/>
          </a:bodyPr>
          <a:lstStyle/>
          <a:p>
            <a:pPr>
              <a:buFont typeface="Consolas" panose="020B0609020204030204" pitchFamily="49" charset="0"/>
              <a:buChar char="$"/>
            </a:pPr>
            <a:r>
              <a:rPr lang="en-US" sz="1200" dirty="0">
                <a:solidFill>
                  <a:schemeClr val="bg1"/>
                </a:solidFill>
                <a:latin typeface="Consolas" panose="020B0609020204030204" pitchFamily="49" charset="0"/>
              </a:rPr>
              <a:t>dotnet add package </a:t>
            </a:r>
            <a:r>
              <a:rPr lang="en-US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Microsoft.Extensions.DependencyInjection</a:t>
            </a:r>
            <a:endParaRPr lang="ru-RU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8649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0913-824C-6625-0075-3363C817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D9EE0EE-D4B7-EB5E-9D96-10116F43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DI-</a:t>
            </a:r>
            <a:r>
              <a:rPr lang="ru-RU" dirty="0"/>
              <a:t>контейнер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182C066-9BEC-7CA8-530D-98827DF9A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После добавления пакета настроим </a:t>
            </a:r>
            <a:r>
              <a:rPr lang="en-US" dirty="0"/>
              <a:t>DI-</a:t>
            </a:r>
            <a:r>
              <a:rPr lang="ru-RU" dirty="0"/>
              <a:t>контейнер</a:t>
            </a:r>
            <a:r>
              <a:rPr lang="en-US" dirty="0"/>
              <a:t> </a:t>
            </a:r>
            <a:r>
              <a:rPr lang="ru-RU" dirty="0"/>
              <a:t>и получим из него прикладные сервисы.</a:t>
            </a:r>
          </a:p>
          <a:p>
            <a:r>
              <a:rPr lang="ru-RU" dirty="0"/>
              <a:t>Для этого в </a:t>
            </a:r>
            <a:r>
              <a:rPr lang="en-US" dirty="0" err="1"/>
              <a:t>Program.cs</a:t>
            </a:r>
            <a:r>
              <a:rPr lang="en-US" dirty="0"/>
              <a:t> </a:t>
            </a:r>
            <a:r>
              <a:rPr lang="ru-RU" dirty="0"/>
              <a:t>добавим соответствующий код.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016E53C-B00D-F901-6F6B-F63575B35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4730" y="1992131"/>
            <a:ext cx="5658640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8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CFF68-5474-F75D-6B8B-2FD7D7BC7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Обработчики команд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6C1C8C-F07A-258C-52CD-707EBA740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Наше приложение будет уметь обрабатывать следующие команды: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– </a:t>
            </a:r>
            <a:r>
              <a:rPr lang="ru-RU" dirty="0"/>
              <a:t>для вывода списка клиентов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customer – </a:t>
            </a:r>
            <a:r>
              <a:rPr lang="ru-RU" dirty="0"/>
              <a:t>для добавления нового клиента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cars – </a:t>
            </a:r>
            <a:r>
              <a:rPr lang="ru-RU" dirty="0"/>
              <a:t>для вывода списка автомобилей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car – </a:t>
            </a:r>
            <a:r>
              <a:rPr lang="ru-RU" dirty="0"/>
              <a:t>для добавления нового автомобиля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reserve – </a:t>
            </a:r>
            <a:r>
              <a:rPr lang="ru-RU" dirty="0"/>
              <a:t>для резервирования автомобиля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sell – </a:t>
            </a:r>
            <a:r>
              <a:rPr lang="ru-RU" dirty="0"/>
              <a:t>для продажи автомобиля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Каждая из команд будет реализована при помощи своего собственного обработчика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30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3356846-1FF6-D4A2-4BD5-A3E93888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Обработчики команд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E597D05A-6B33-943C-07D3-971D8F21D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3388" y="1558683"/>
            <a:ext cx="5001323" cy="3477110"/>
          </a:xfrm>
          <a:prstGeom prst="rect">
            <a:avLst/>
          </a:prstGeom>
        </p:spPr>
      </p:pic>
      <p:sp>
        <p:nvSpPr>
          <p:cNvPr id="6" name="Текст 5">
            <a:extLst>
              <a:ext uri="{FF2B5EF4-FFF2-40B4-BE49-F238E27FC236}">
                <a16:creationId xmlns:a16="http://schemas.microsoft.com/office/drawing/2014/main" id="{AC8463DB-B746-8A77-3E41-F4F6730F8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Начнем с вывода списка клиентов. Добавим соответствующий метод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Program.cs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1603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6372C-F8F5-A153-5958-C3518AC3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Обработчики команд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87AD7C4-09F8-1D4C-8501-3DDA6C8D2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0032" y="554038"/>
            <a:ext cx="4548036" cy="54864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488F203-E5D9-F711-4010-8F0BDC32A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Далее добавляем метод для добавления покупателя.</a:t>
            </a:r>
          </a:p>
        </p:txBody>
      </p:sp>
    </p:spTree>
    <p:extLst>
      <p:ext uri="{BB962C8B-B14F-4D97-AF65-F5344CB8AC3E}">
        <p14:creationId xmlns:p14="http://schemas.microsoft.com/office/powerpoint/2010/main" val="25622932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2295D-4411-5329-BFFA-A327D31C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97B0B-F397-BCC7-EC8B-38DDFCD5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Обработчики команд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68A05F-26B9-5F86-6827-E8A6547CC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Метод для добавления автомобиля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E53D920-8328-0CB3-D004-03E9596CF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1467" y="1477709"/>
            <a:ext cx="5125165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8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A910-971F-1BEF-6253-D25D2BD8A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2B53E-32ED-1895-FABF-6DB05792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Обработчики команд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4E0435-7698-602A-0860-29C5FF81D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Метод для вывода списка автомобилей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6E7BDEC-ECE8-8FAC-7ABC-AFFBF61AB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941283"/>
            <a:ext cx="6280150" cy="471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664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1057-0AA6-5D78-0EF4-2F458577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9E364-5E7E-5CB5-DA08-C94009BD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Обработчики команд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8BCE6E-A174-3A6B-F055-D6979AB66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Метод для резервирования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10AC4E8-D993-5D8B-CBE4-DEFBE1F3A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1278878"/>
            <a:ext cx="6280150" cy="40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478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4B86-B90E-106A-7141-81434A2A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307ED-F543-2E33-FD9B-597E352F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Обработчики команд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E9C2A9-552E-E936-64EF-9904721BB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Метод для продажи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3D94644-39F9-A86C-E76F-C928FF27F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1825101"/>
            <a:ext cx="6280150" cy="294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044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015743E-9090-882F-FC40-858049E2FC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Основной цикл обработки команд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10C33CB7-245F-487B-9DF9-F4FDB304C1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1354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91B2FD7-2061-08C1-51FF-1A1C8E65F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Основной цикл обработки команд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176BEEA-1260-4757-FE05-80F1FD524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Теперь добавим основной каркас, который будет считывать ввод от пользователя и запускать обработчики.</a:t>
            </a:r>
          </a:p>
          <a:p>
            <a:r>
              <a:rPr lang="ru-RU" dirty="0"/>
              <a:t>Добавим соответствующий код сразу после кода построения нашим сервисов и до кода обработчиков.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D3BDBA8D-2F65-13B9-786A-B112B0947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3975" y="929313"/>
            <a:ext cx="6280150" cy="473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79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B8ED-59A8-C81C-09C9-A82DFBD9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4BF99AA-9192-BD63-A7D0-32DF9AAA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Основной цикл обработки команд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9B91F63-E841-01B8-891C-127884614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И, наконец, добавим вызов самих обработчиков.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9B26BE8-FCE0-B22E-951B-50E0386FB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9313" y="554038"/>
            <a:ext cx="586947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750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4E99-5C9F-C38C-733D-1DE72582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43762-FA9C-570D-65B0-47A7389A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Запустим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669525-5246-52CF-C6CF-E224D244E06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pPr>
              <a:buFont typeface="Consolas" panose="020B0609020204030204" pitchFamily="49" charset="0"/>
              <a:buChar char="$"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dotnet run --project .\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AutoMarketApp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\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5272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9D29B-B803-5730-1B5F-690FA0EE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Проверочные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B5FCDB-19F4-62C0-2FE7-FFFFCE29E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Подойдет ли описанная нами модель для другой предметной области? Например, для описания сервисного центра для автомобилей?</a:t>
            </a:r>
          </a:p>
        </p:txBody>
      </p:sp>
    </p:spTree>
    <p:extLst>
      <p:ext uri="{BB962C8B-B14F-4D97-AF65-F5344CB8AC3E}">
        <p14:creationId xmlns:p14="http://schemas.microsoft.com/office/powerpoint/2010/main" val="99015438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1292</Words>
  <Application>Microsoft Office PowerPoint</Application>
  <PresentationFormat>Широкоэкранный</PresentationFormat>
  <Paragraphs>176</Paragraphs>
  <Slides>63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67" baseType="lpstr">
      <vt:lpstr>Arial</vt:lpstr>
      <vt:lpstr>Consolas</vt:lpstr>
      <vt:lpstr>Neue Haas Grotesk Text Pro</vt:lpstr>
      <vt:lpstr>VanillaVTI</vt:lpstr>
      <vt:lpstr>Занятие 8 Domain-Driven Design</vt:lpstr>
      <vt:lpstr>Что такое DDD?</vt:lpstr>
      <vt:lpstr>Что такое DDD?</vt:lpstr>
      <vt:lpstr>Основные понятия</vt:lpstr>
      <vt:lpstr>Основные понятия</vt:lpstr>
      <vt:lpstr>Какие есть примеры сущностей?</vt:lpstr>
      <vt:lpstr>Какие есть примеры сущностей?</vt:lpstr>
      <vt:lpstr>Почему это сущности?</vt:lpstr>
      <vt:lpstr>Почему это сущности?</vt:lpstr>
      <vt:lpstr>Какие есть примеры value objects?</vt:lpstr>
      <vt:lpstr>Какие есть примеры value objects?</vt:lpstr>
      <vt:lpstr>Практическая задача</vt:lpstr>
      <vt:lpstr>Функциональные требования</vt:lpstr>
      <vt:lpstr>Какие сущности можно выделить?</vt:lpstr>
      <vt:lpstr>Какие сущности можно выделить?</vt:lpstr>
      <vt:lpstr>Являются ли продажа и резерв сущностями?</vt:lpstr>
      <vt:lpstr>Являются ли продажа и резерв сущностями?</vt:lpstr>
      <vt:lpstr>А когда они будут являться сущностями?</vt:lpstr>
      <vt:lpstr>А когда они будут являться сущностями?</vt:lpstr>
      <vt:lpstr>А какие Value Objects возможны в нашей задаче?</vt:lpstr>
      <vt:lpstr>А какие Value Objects возможны в нашей задаче?</vt:lpstr>
      <vt:lpstr>Теперь к коду</vt:lpstr>
      <vt:lpstr>Создадим проект</vt:lpstr>
      <vt:lpstr>Структура проекта</vt:lpstr>
      <vt:lpstr>Опишем модели</vt:lpstr>
      <vt:lpstr>Опишем наши Value Objects</vt:lpstr>
      <vt:lpstr>Опишем наши Value Objects</vt:lpstr>
      <vt:lpstr>Опишем модель клиента</vt:lpstr>
      <vt:lpstr>Опишем факт продажи</vt:lpstr>
      <vt:lpstr>Опишем факт резерва</vt:lpstr>
      <vt:lpstr>Опишем автомобиль</vt:lpstr>
      <vt:lpstr>Модели описаны – описываем репозиторий</vt:lpstr>
      <vt:lpstr>Опишем репозиторий клиентов</vt:lpstr>
      <vt:lpstr>Реализация репозитория клиентов</vt:lpstr>
      <vt:lpstr>Реализация репозитория клиентов</vt:lpstr>
      <vt:lpstr>Реализация репозитория клиентов</vt:lpstr>
      <vt:lpstr>Реализация репозитория клиентов</vt:lpstr>
      <vt:lpstr>Реализация репозитория клиентов</vt:lpstr>
      <vt:lpstr>Опишем репозиторий автомобилей</vt:lpstr>
      <vt:lpstr>Реализация репозитория автомобилей</vt:lpstr>
      <vt:lpstr>Реализация репозитория автомобилей</vt:lpstr>
      <vt:lpstr>Реализация репозитория автомобилей</vt:lpstr>
      <vt:lpstr>Реализация репозитория автомобилей</vt:lpstr>
      <vt:lpstr>Реализация репозитория автомобилей</vt:lpstr>
      <vt:lpstr>Прикладные сервисы</vt:lpstr>
      <vt:lpstr>Сервис для работы с клиентами</vt:lpstr>
      <vt:lpstr>Сервис для работы с автомобилями</vt:lpstr>
      <vt:lpstr>Сервис для работы с автомобилями</vt:lpstr>
      <vt:lpstr>Объединяем компоненты</vt:lpstr>
      <vt:lpstr>DI-контейнер</vt:lpstr>
      <vt:lpstr>DI-контейнер</vt:lpstr>
      <vt:lpstr>Обработчики команд</vt:lpstr>
      <vt:lpstr>Обработчики команд</vt:lpstr>
      <vt:lpstr>Обработчики команд</vt:lpstr>
      <vt:lpstr>Обработчики команд</vt:lpstr>
      <vt:lpstr>Обработчики команд</vt:lpstr>
      <vt:lpstr>Обработчики команд</vt:lpstr>
      <vt:lpstr>Обработчики команд</vt:lpstr>
      <vt:lpstr>Основной цикл обработки команд</vt:lpstr>
      <vt:lpstr>Основной цикл обработки команд</vt:lpstr>
      <vt:lpstr>Основной цикл обработки команд</vt:lpstr>
      <vt:lpstr>Запустим проект</vt:lpstr>
      <vt:lpstr>Проверочные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Секретарев</dc:creator>
  <cp:lastModifiedBy>Сергей Секретарев</cp:lastModifiedBy>
  <cp:revision>2</cp:revision>
  <dcterms:created xsi:type="dcterms:W3CDTF">2025-11-03T17:01:26Z</dcterms:created>
  <dcterms:modified xsi:type="dcterms:W3CDTF">2025-11-04T00:29:04Z</dcterms:modified>
</cp:coreProperties>
</file>